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61" r:id="rId6"/>
    <p:sldId id="258" r:id="rId7"/>
    <p:sldId id="259" r:id="rId8"/>
    <p:sldId id="263" r:id="rId9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37"/>
  </p:normalViewPr>
  <p:slideViewPr>
    <p:cSldViewPr snapToGrid="0" showGuides="1">
      <p:cViewPr varScale="1">
        <p:scale>
          <a:sx n="109" d="100"/>
          <a:sy n="109" d="100"/>
        </p:scale>
        <p:origin x="63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83D349-300E-468B-976B-5914B5CB1A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A842F49-C9CA-4F9F-9125-7A8941A18603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3D349-300E-468B-976B-5914B5CB1A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2F49-C9CA-4F9F-9125-7A8941A186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83D349-300E-468B-976B-5914B5CB1A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42F49-C9CA-4F9F-9125-7A8941A18603}" type="slidenum">
              <a:rPr lang="zh-CN" altLang="en-US" smtClean="0"/>
            </a:fld>
            <a:endParaRPr lang="zh-CN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3D349-300E-468B-976B-5914B5CB1A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2F49-C9CA-4F9F-9125-7A8941A186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3D349-300E-468B-976B-5914B5CB1A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2F49-C9CA-4F9F-9125-7A8941A186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3D349-300E-468B-976B-5914B5CB1A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2F49-C9CA-4F9F-9125-7A8941A186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3D349-300E-468B-976B-5914B5CB1A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2F49-C9CA-4F9F-9125-7A8941A186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83D349-300E-468B-976B-5914B5CB1A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42F49-C9CA-4F9F-9125-7A8941A18603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83D349-300E-468B-976B-5914B5CB1A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42F49-C9CA-4F9F-9125-7A8941A18603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3D349-300E-468B-976B-5914B5CB1A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2F49-C9CA-4F9F-9125-7A8941A186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3D349-300E-468B-976B-5914B5CB1A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2F49-C9CA-4F9F-9125-7A8941A186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183D349-300E-468B-976B-5914B5CB1A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2A842F49-C9CA-4F9F-9125-7A8941A18603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学科实践二</a:t>
            </a:r>
            <a:br>
              <a:rPr lang="en-US" altLang="zh-CN" dirty="0"/>
            </a:br>
            <a:r>
              <a:rPr lang="zh-CN" altLang="en-US" dirty="0"/>
              <a:t>大作业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2026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大作业要点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大作业成绩占总成绩的</a:t>
            </a:r>
            <a:r>
              <a:rPr lang="en-US" altLang="zh-CN" dirty="0"/>
              <a:t>40%</a:t>
            </a:r>
            <a:endParaRPr lang="en-US" altLang="zh-CN" dirty="0"/>
          </a:p>
          <a:p>
            <a:r>
              <a:rPr lang="zh-CN" altLang="en-US" dirty="0"/>
              <a:t>小组独立完成：</a:t>
            </a:r>
            <a:r>
              <a:rPr lang="en-US" altLang="zh-CN" dirty="0"/>
              <a:t>1-3</a:t>
            </a:r>
            <a:r>
              <a:rPr lang="zh-CN" altLang="en-US" dirty="0" smtClean="0"/>
              <a:t>人，推荐</a:t>
            </a:r>
            <a:r>
              <a:rPr lang="en-US" altLang="zh-CN" dirty="0" smtClean="0"/>
              <a:t>3</a:t>
            </a:r>
            <a:r>
              <a:rPr lang="zh-CN" altLang="en-US" dirty="0" smtClean="0"/>
              <a:t>人一组</a:t>
            </a:r>
            <a:endParaRPr lang="en-US" altLang="zh-CN" dirty="0"/>
          </a:p>
          <a:p>
            <a:r>
              <a:rPr lang="zh-CN" altLang="en-US" dirty="0"/>
              <a:t>大作业课题： 开放自选题材的图像</a:t>
            </a:r>
            <a:r>
              <a:rPr lang="zh-CN" altLang="en-US" dirty="0" smtClean="0"/>
              <a:t>分类、目标检测等</a:t>
            </a:r>
            <a:r>
              <a:rPr lang="en-US" altLang="zh-CN" dirty="0" smtClean="0"/>
              <a:t>CV</a:t>
            </a:r>
            <a:r>
              <a:rPr lang="zh-CN" altLang="en-US" dirty="0" smtClean="0"/>
              <a:t>相关选题，</a:t>
            </a:r>
            <a:r>
              <a:rPr lang="zh-CN" altLang="en-US" dirty="0"/>
              <a:t>自选题材的分类数不能小于</a:t>
            </a:r>
            <a:r>
              <a:rPr lang="en-US" altLang="zh-CN" dirty="0"/>
              <a:t>5</a:t>
            </a:r>
            <a:r>
              <a:rPr lang="zh-CN" altLang="en-US" dirty="0" smtClean="0"/>
              <a:t>类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大作业时间安排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en-US" altLang="zh-CN" dirty="0" smtClean="0"/>
              <a:t>10</a:t>
            </a:r>
            <a:r>
              <a:rPr lang="zh-CN" altLang="en-US" dirty="0" smtClean="0"/>
              <a:t>周</a:t>
            </a:r>
            <a:r>
              <a:rPr lang="en-US" altLang="zh-CN" dirty="0" smtClean="0"/>
              <a:t>~12</a:t>
            </a:r>
            <a:r>
              <a:rPr lang="zh-CN" altLang="en-US" dirty="0" smtClean="0"/>
              <a:t>周</a:t>
            </a:r>
            <a:r>
              <a:rPr lang="zh-CN" altLang="en-US" dirty="0"/>
              <a:t>：确定选题，数据集，小组成员。</a:t>
            </a:r>
            <a:endParaRPr lang="zh-CN" altLang="en-US" dirty="0"/>
          </a:p>
          <a:p>
            <a:r>
              <a:rPr lang="en-US" altLang="zh-CN" dirty="0" smtClean="0">
                <a:sym typeface="+mn-ea"/>
              </a:rPr>
              <a:t>10</a:t>
            </a:r>
            <a:r>
              <a:rPr lang="zh-CN" altLang="en-US" dirty="0" smtClean="0">
                <a:sym typeface="+mn-ea"/>
              </a:rPr>
              <a:t>周</a:t>
            </a:r>
            <a:r>
              <a:rPr lang="en-US" altLang="zh-CN" dirty="0" smtClean="0">
                <a:sym typeface="+mn-ea"/>
              </a:rPr>
              <a:t>~12</a:t>
            </a:r>
            <a:r>
              <a:rPr lang="zh-CN" altLang="en-US" dirty="0" smtClean="0">
                <a:sym typeface="+mn-ea"/>
              </a:rPr>
              <a:t>周：</a:t>
            </a:r>
            <a:r>
              <a:rPr lang="zh-CN" altLang="en-US" dirty="0"/>
              <a:t>项目审核</a:t>
            </a:r>
            <a:r>
              <a:rPr lang="zh-CN" altLang="en-US" dirty="0" smtClean="0"/>
              <a:t>，项目</a:t>
            </a:r>
            <a:r>
              <a:rPr lang="zh-CN" altLang="en-US" dirty="0"/>
              <a:t>开发，</a:t>
            </a:r>
            <a:r>
              <a:rPr lang="zh-CN" altLang="en-US" dirty="0">
                <a:sym typeface="+mn-ea"/>
              </a:rPr>
              <a:t>（确定后不得随意更改题目与成员）</a:t>
            </a:r>
            <a:endParaRPr lang="en-US" altLang="zh-CN" dirty="0"/>
          </a:p>
          <a:p>
            <a:r>
              <a:rPr lang="en-US" altLang="zh-CN" dirty="0" smtClean="0"/>
              <a:t>12</a:t>
            </a:r>
            <a:r>
              <a:rPr lang="zh-CN" altLang="en-US" dirty="0" smtClean="0"/>
              <a:t>周</a:t>
            </a:r>
            <a:r>
              <a:rPr lang="en-US" altLang="zh-CN" dirty="0" smtClean="0"/>
              <a:t>~14</a:t>
            </a:r>
            <a:r>
              <a:rPr lang="zh-CN" altLang="en-US" dirty="0" smtClean="0"/>
              <a:t>：</a:t>
            </a:r>
            <a:r>
              <a:rPr lang="zh-CN" altLang="en-US" dirty="0">
                <a:sym typeface="+mn-ea"/>
              </a:rPr>
              <a:t>项目开发</a:t>
            </a:r>
            <a:endParaRPr lang="zh-CN" altLang="en-US" dirty="0">
              <a:sym typeface="+mn-ea"/>
            </a:endParaRPr>
          </a:p>
          <a:p>
            <a:pPr algn="l">
              <a:buClrTx/>
              <a:buSzTx/>
            </a:pPr>
            <a:r>
              <a:rPr lang="en-US" altLang="zh-CN" dirty="0" smtClean="0">
                <a:solidFill>
                  <a:srgbClr val="0070C0"/>
                </a:solidFill>
                <a:sym typeface="+mn-ea"/>
              </a:rPr>
              <a:t>14</a:t>
            </a:r>
            <a:r>
              <a:rPr lang="zh-CN" altLang="en-US" dirty="0" smtClean="0">
                <a:solidFill>
                  <a:srgbClr val="0070C0"/>
                </a:solidFill>
                <a:sym typeface="+mn-ea"/>
              </a:rPr>
              <a:t>周</a:t>
            </a:r>
            <a:r>
              <a:rPr lang="en-US" altLang="zh-CN" dirty="0" smtClean="0">
                <a:solidFill>
                  <a:srgbClr val="0070C0"/>
                </a:solidFill>
                <a:sym typeface="+mn-ea"/>
              </a:rPr>
              <a:t>~15</a:t>
            </a:r>
            <a:r>
              <a:rPr lang="zh-CN" altLang="en-US" dirty="0" smtClean="0">
                <a:solidFill>
                  <a:srgbClr val="0070C0"/>
                </a:solidFill>
                <a:sym typeface="+mn-ea"/>
              </a:rPr>
              <a:t>周</a:t>
            </a:r>
            <a:r>
              <a:rPr lang="en-US" altLang="zh-CN" dirty="0" smtClean="0">
                <a:solidFill>
                  <a:srgbClr val="0070C0"/>
                </a:solidFill>
                <a:sym typeface="+mn-ea"/>
              </a:rPr>
              <a:t>(6</a:t>
            </a:r>
            <a:r>
              <a:rPr lang="zh-CN" altLang="en-US" dirty="0" smtClean="0">
                <a:solidFill>
                  <a:srgbClr val="0070C0"/>
                </a:solidFill>
                <a:sym typeface="+mn-ea"/>
              </a:rPr>
              <a:t>月</a:t>
            </a:r>
            <a:r>
              <a:rPr lang="en-US" altLang="zh-CN" dirty="0" smtClean="0">
                <a:solidFill>
                  <a:srgbClr val="0070C0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rgbClr val="0070C0"/>
                </a:solidFill>
                <a:sym typeface="+mn-ea"/>
              </a:rPr>
              <a:t>日，</a:t>
            </a:r>
            <a:r>
              <a:rPr lang="en-US" altLang="zh-CN" dirty="0" smtClean="0">
                <a:solidFill>
                  <a:srgbClr val="0070C0"/>
                </a:solidFill>
                <a:sym typeface="+mn-ea"/>
              </a:rPr>
              <a:t>6</a:t>
            </a:r>
            <a:r>
              <a:rPr lang="zh-CN" altLang="en-US" dirty="0" smtClean="0">
                <a:solidFill>
                  <a:srgbClr val="0070C0"/>
                </a:solidFill>
                <a:sym typeface="+mn-ea"/>
              </a:rPr>
              <a:t>月</a:t>
            </a:r>
            <a:r>
              <a:rPr lang="en-US" altLang="zh-CN" dirty="0" smtClean="0">
                <a:solidFill>
                  <a:srgbClr val="0070C0"/>
                </a:solidFill>
                <a:sym typeface="+mn-ea"/>
              </a:rPr>
              <a:t>10</a:t>
            </a:r>
            <a:r>
              <a:rPr lang="zh-CN" altLang="en-US" dirty="0" smtClean="0">
                <a:solidFill>
                  <a:srgbClr val="0070C0"/>
                </a:solidFill>
                <a:sym typeface="+mn-ea"/>
              </a:rPr>
              <a:t>日</a:t>
            </a:r>
            <a:r>
              <a:rPr lang="en-US" altLang="zh-CN" dirty="0" smtClean="0">
                <a:solidFill>
                  <a:srgbClr val="0070C0"/>
                </a:solidFill>
                <a:sym typeface="+mn-ea"/>
              </a:rPr>
              <a:t>)</a:t>
            </a:r>
            <a:r>
              <a:rPr lang="zh-CN" altLang="en-US" dirty="0" smtClean="0">
                <a:solidFill>
                  <a:srgbClr val="0070C0"/>
                </a:solidFill>
                <a:sym typeface="+mn-ea"/>
              </a:rPr>
              <a:t>：路演（</a:t>
            </a:r>
            <a:r>
              <a:rPr lang="en-US" altLang="zh-CN" dirty="0" smtClean="0">
                <a:solidFill>
                  <a:srgbClr val="0070C0"/>
                </a:solidFill>
                <a:sym typeface="+mn-ea"/>
              </a:rPr>
              <a:t>14</a:t>
            </a:r>
            <a:r>
              <a:rPr lang="zh-CN" altLang="en-US" dirty="0" smtClean="0">
                <a:solidFill>
                  <a:srgbClr val="0070C0"/>
                </a:solidFill>
                <a:sym typeface="+mn-ea"/>
              </a:rPr>
              <a:t>周完成</a:t>
            </a:r>
            <a:r>
              <a:rPr lang="en-US" altLang="zh-CN" dirty="0" smtClean="0">
                <a:solidFill>
                  <a:srgbClr val="0070C0"/>
                </a:solidFill>
                <a:sym typeface="+mn-ea"/>
              </a:rPr>
              <a:t>1/3,15</a:t>
            </a:r>
            <a:r>
              <a:rPr lang="zh-CN" altLang="en-US" dirty="0" smtClean="0">
                <a:solidFill>
                  <a:srgbClr val="0070C0"/>
                </a:solidFill>
                <a:sym typeface="+mn-ea"/>
              </a:rPr>
              <a:t>周完成</a:t>
            </a:r>
            <a:r>
              <a:rPr lang="en-US" altLang="zh-CN" dirty="0" smtClean="0">
                <a:solidFill>
                  <a:srgbClr val="0070C0"/>
                </a:solidFill>
                <a:sym typeface="+mn-ea"/>
              </a:rPr>
              <a:t>2/3</a:t>
            </a:r>
            <a:r>
              <a:rPr lang="zh-CN" altLang="en-US" dirty="0" smtClean="0">
                <a:solidFill>
                  <a:srgbClr val="0070C0"/>
                </a:solidFill>
                <a:sym typeface="+mn-ea"/>
              </a:rPr>
              <a:t>）</a:t>
            </a:r>
            <a:endParaRPr lang="zh-CN" altLang="en-US" dirty="0">
              <a:solidFill>
                <a:srgbClr val="0070C0"/>
              </a:solidFill>
              <a:sym typeface="+mn-ea"/>
            </a:endParaRPr>
          </a:p>
          <a:p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大作业</a:t>
            </a:r>
            <a:r>
              <a:rPr lang="zh-CN" altLang="en-US" dirty="0" smtClean="0"/>
              <a:t>选题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开放式选题</a:t>
            </a:r>
            <a:r>
              <a:rPr lang="en-US" altLang="zh-CN" dirty="0" smtClean="0"/>
              <a:t>(</a:t>
            </a:r>
            <a:r>
              <a:rPr lang="zh-CN" altLang="en-US" dirty="0" smtClean="0"/>
              <a:t>包含图像分类、目标检测等）</a:t>
            </a:r>
            <a:endParaRPr lang="en-US" altLang="zh-CN" dirty="0"/>
          </a:p>
          <a:p>
            <a:r>
              <a:rPr lang="zh-CN" altLang="en-US" dirty="0"/>
              <a:t>数据源</a:t>
            </a:r>
            <a:endParaRPr lang="en-US" altLang="zh-CN" dirty="0"/>
          </a:p>
          <a:p>
            <a:pPr lvl="1"/>
            <a:r>
              <a:rPr lang="zh-CN" altLang="en-US" dirty="0" smtClean="0"/>
              <a:t>数据</a:t>
            </a:r>
            <a:r>
              <a:rPr lang="zh-CN" altLang="en-US" dirty="0"/>
              <a:t>爬</a:t>
            </a:r>
            <a:r>
              <a:rPr lang="zh-CN" altLang="en-US" dirty="0" smtClean="0"/>
              <a:t>取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官方公开数据集</a:t>
            </a:r>
            <a:endParaRPr lang="en-US" altLang="zh-CN" dirty="0"/>
          </a:p>
          <a:p>
            <a:pPr lvl="1"/>
            <a:r>
              <a:rPr lang="zh-CN" altLang="en-US" dirty="0"/>
              <a:t>小组成员</a:t>
            </a:r>
            <a:r>
              <a:rPr lang="zh-CN" altLang="en-US" dirty="0" smtClean="0"/>
              <a:t>拍摄、自行标注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大作业成绩评定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大作业最终成绩（按百分计）</a:t>
            </a:r>
            <a:r>
              <a:rPr lang="en-US" altLang="zh-CN" dirty="0"/>
              <a:t>=</a:t>
            </a:r>
            <a:r>
              <a:rPr lang="zh-CN" altLang="en-US" dirty="0"/>
              <a:t>（汇报得分</a:t>
            </a:r>
            <a:r>
              <a:rPr lang="en-US" altLang="zh-CN" dirty="0"/>
              <a:t>*0.5+</a:t>
            </a:r>
            <a:r>
              <a:rPr lang="zh-CN" altLang="en-US" dirty="0"/>
              <a:t>实验报告得分</a:t>
            </a:r>
            <a:r>
              <a:rPr lang="en-US" altLang="zh-CN" dirty="0"/>
              <a:t>*</a:t>
            </a:r>
            <a:r>
              <a:rPr lang="en-US" altLang="zh-CN" dirty="0" smtClean="0"/>
              <a:t>0.5)*</a:t>
            </a:r>
            <a:r>
              <a:rPr lang="zh-CN" altLang="en-US" dirty="0" smtClean="0"/>
              <a:t>选题</a:t>
            </a:r>
            <a:r>
              <a:rPr lang="zh-CN" altLang="en-US" dirty="0"/>
              <a:t>难度系数</a:t>
            </a:r>
            <a:r>
              <a:rPr lang="en-US" altLang="zh-CN" dirty="0"/>
              <a:t>* </a:t>
            </a:r>
            <a:r>
              <a:rPr lang="zh-CN" altLang="en-US" dirty="0"/>
              <a:t>（准确率</a:t>
            </a:r>
            <a:r>
              <a:rPr lang="en-US" altLang="zh-CN" dirty="0"/>
              <a:t>+</a:t>
            </a:r>
            <a:r>
              <a:rPr lang="zh-CN" altLang="en-US" dirty="0"/>
              <a:t>调分系数</a:t>
            </a:r>
            <a:r>
              <a:rPr lang="zh-CN" altLang="en-US" dirty="0" smtClean="0"/>
              <a:t>）</a:t>
            </a:r>
            <a:r>
              <a:rPr lang="en-US" altLang="zh-CN" dirty="0" smtClean="0"/>
              <a:t>*</a:t>
            </a:r>
            <a:r>
              <a:rPr lang="zh-CN" altLang="en-US" dirty="0" smtClean="0"/>
              <a:t>组内人员系数</a:t>
            </a:r>
            <a:endParaRPr lang="en-US" altLang="zh-CN" dirty="0" smtClean="0"/>
          </a:p>
          <a:p>
            <a:r>
              <a:rPr lang="zh-CN" altLang="en-US" dirty="0" smtClean="0"/>
              <a:t>汇报得分与实验报告得分（主讲老师与助教老师联合参与评分）按百分计</a:t>
            </a:r>
            <a:endParaRPr lang="en-US" altLang="zh-CN" dirty="0" smtClean="0"/>
          </a:p>
          <a:p>
            <a:r>
              <a:rPr lang="zh-CN" altLang="en-US" dirty="0" smtClean="0"/>
              <a:t>选题</a:t>
            </a:r>
            <a:r>
              <a:rPr lang="zh-CN" altLang="en-US" dirty="0"/>
              <a:t>难度系数：老师确定</a:t>
            </a:r>
            <a:endParaRPr lang="en-US" altLang="zh-CN" dirty="0"/>
          </a:p>
          <a:p>
            <a:r>
              <a:rPr lang="zh-CN" altLang="en-US" dirty="0"/>
              <a:t>准确率：分类最高准确率</a:t>
            </a:r>
            <a:endParaRPr lang="en-US" altLang="zh-CN" dirty="0"/>
          </a:p>
          <a:p>
            <a:r>
              <a:rPr lang="zh-CN" altLang="en-US" dirty="0"/>
              <a:t>调分系数</a:t>
            </a:r>
            <a:r>
              <a:rPr lang="en-US" altLang="zh-CN" dirty="0"/>
              <a:t>: </a:t>
            </a:r>
            <a:r>
              <a:rPr lang="zh-CN" altLang="en-US" dirty="0"/>
              <a:t>全班统一，老师定</a:t>
            </a:r>
            <a:endParaRPr lang="en-US" altLang="zh-CN" dirty="0"/>
          </a:p>
          <a:p>
            <a:r>
              <a:rPr lang="zh-CN" altLang="en-US" dirty="0"/>
              <a:t>组内人员系数</a:t>
            </a:r>
            <a:r>
              <a:rPr lang="en-US" altLang="zh-CN" dirty="0"/>
              <a:t>:</a:t>
            </a:r>
            <a:r>
              <a:rPr lang="zh-CN" altLang="en-US" dirty="0"/>
              <a:t>同组内人员系数均值为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914400" lvl="2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汇报与实验报告要求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务必小组独立完成</a:t>
            </a:r>
            <a:endParaRPr lang="en-US" altLang="zh-CN" dirty="0"/>
          </a:p>
          <a:p>
            <a:r>
              <a:rPr lang="zh-CN" altLang="en-US" dirty="0"/>
              <a:t>同一小组</a:t>
            </a:r>
            <a:r>
              <a:rPr lang="en-US" altLang="zh-CN" dirty="0"/>
              <a:t>:</a:t>
            </a:r>
            <a:r>
              <a:rPr lang="zh-CN" altLang="en-US" dirty="0"/>
              <a:t>一次汇报</a:t>
            </a:r>
            <a:r>
              <a:rPr lang="en-US" altLang="zh-CN" dirty="0"/>
              <a:t>+</a:t>
            </a:r>
            <a:r>
              <a:rPr lang="zh-CN" altLang="en-US" dirty="0"/>
              <a:t>一个实验报告</a:t>
            </a:r>
            <a:endParaRPr lang="en-US" altLang="zh-CN" dirty="0"/>
          </a:p>
          <a:p>
            <a:r>
              <a:rPr lang="zh-CN" altLang="en-US" dirty="0"/>
              <a:t>每个小组汇报</a:t>
            </a:r>
            <a:r>
              <a:rPr lang="en-US" altLang="zh-CN" dirty="0"/>
              <a:t>5</a:t>
            </a:r>
            <a:r>
              <a:rPr lang="zh-CN" altLang="en-US" dirty="0"/>
              <a:t>分钟，需准备好</a:t>
            </a:r>
            <a:r>
              <a:rPr lang="en-US" altLang="zh-CN" dirty="0"/>
              <a:t>PPT</a:t>
            </a:r>
            <a:r>
              <a:rPr lang="zh-CN" altLang="en-US" dirty="0"/>
              <a:t>；组员全部上台，可</a:t>
            </a:r>
            <a:r>
              <a:rPr lang="en-US" altLang="zh-CN" dirty="0"/>
              <a:t>1</a:t>
            </a:r>
            <a:r>
              <a:rPr lang="zh-CN" altLang="en-US" dirty="0"/>
              <a:t>人或多人轮流汇报；老师可提问</a:t>
            </a:r>
            <a:endParaRPr lang="en-US" altLang="zh-CN" dirty="0"/>
          </a:p>
          <a:p>
            <a:r>
              <a:rPr lang="zh-CN" altLang="en-US" dirty="0"/>
              <a:t>汇报和实验报告的重要内容</a:t>
            </a:r>
            <a:endParaRPr lang="en-US" altLang="zh-CN" dirty="0"/>
          </a:p>
          <a:p>
            <a:pPr lvl="1"/>
            <a:r>
              <a:rPr lang="zh-CN" altLang="en-US" dirty="0"/>
              <a:t>课题任务描述</a:t>
            </a:r>
            <a:endParaRPr lang="en-US" altLang="zh-CN" dirty="0"/>
          </a:p>
          <a:p>
            <a:pPr lvl="1"/>
            <a:r>
              <a:rPr lang="zh-CN" altLang="en-US" dirty="0"/>
              <a:t>数据集（数据规模、分类数、图像特点）</a:t>
            </a:r>
            <a:endParaRPr lang="en-US" altLang="zh-CN" dirty="0"/>
          </a:p>
          <a:p>
            <a:pPr lvl="1"/>
            <a:r>
              <a:rPr lang="zh-CN" altLang="en-US" dirty="0"/>
              <a:t>技术路线</a:t>
            </a:r>
            <a:endParaRPr lang="en-US" altLang="zh-CN" dirty="0"/>
          </a:p>
          <a:p>
            <a:pPr lvl="1"/>
            <a:r>
              <a:rPr lang="zh-CN" altLang="en-US" dirty="0"/>
              <a:t>阶段性结果与最好结果（均需出示截图）及其比较、分析</a:t>
            </a:r>
            <a:endParaRPr lang="en-US" altLang="zh-CN" dirty="0"/>
          </a:p>
          <a:p>
            <a:pPr lvl="1"/>
            <a:r>
              <a:rPr lang="zh-CN" altLang="en-US" dirty="0"/>
              <a:t>课题总结</a:t>
            </a:r>
            <a:endParaRPr lang="en-US" altLang="zh-CN" dirty="0"/>
          </a:p>
          <a:p>
            <a:pPr lvl="1"/>
            <a:r>
              <a:rPr lang="zh-CN" altLang="en-US" dirty="0"/>
              <a:t>小组分工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大作业提交材料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提交材料：</a:t>
            </a:r>
            <a:endParaRPr lang="en-US" altLang="zh-CN" dirty="0"/>
          </a:p>
          <a:p>
            <a:pPr lvl="1"/>
            <a:r>
              <a:rPr lang="zh-CN" altLang="en-US" dirty="0"/>
              <a:t>实验报告（</a:t>
            </a:r>
            <a:r>
              <a:rPr lang="en-US" altLang="zh-CN" dirty="0"/>
              <a:t>word or PDF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源码</a:t>
            </a:r>
            <a:r>
              <a:rPr lang="en-US" altLang="zh-CN" dirty="0"/>
              <a:t>(.</a:t>
            </a:r>
            <a:r>
              <a:rPr lang="en-US" altLang="zh-CN" dirty="0" err="1"/>
              <a:t>inbpy</a:t>
            </a:r>
            <a:r>
              <a:rPr lang="en-US" altLang="zh-CN" dirty="0"/>
              <a:t> or .</a:t>
            </a:r>
            <a:r>
              <a:rPr lang="en-US" altLang="zh-CN" dirty="0" err="1"/>
              <a:t>py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endParaRPr lang="en-US" altLang="zh-CN" dirty="0"/>
          </a:p>
          <a:p>
            <a:pPr lvl="1"/>
            <a:r>
              <a:rPr lang="zh-CN" altLang="en-US" dirty="0"/>
              <a:t>数据集（参赛组可不提供）</a:t>
            </a:r>
            <a:endParaRPr lang="en-US" altLang="zh-CN" dirty="0"/>
          </a:p>
          <a:p>
            <a:r>
              <a:rPr lang="zh-CN" altLang="en-US" dirty="0"/>
              <a:t>以上内容打包，文件名：</a:t>
            </a:r>
            <a:r>
              <a:rPr lang="en-US" altLang="zh-CN" dirty="0"/>
              <a:t>##_</a:t>
            </a:r>
            <a:r>
              <a:rPr lang="zh-CN" altLang="en-US" dirty="0"/>
              <a:t>组长姓名</a:t>
            </a:r>
            <a:r>
              <a:rPr lang="en-US" altLang="zh-CN" dirty="0"/>
              <a:t>_</a:t>
            </a:r>
            <a:r>
              <a:rPr lang="zh-CN" altLang="en-US" dirty="0"/>
              <a:t>组员</a:t>
            </a:r>
            <a:r>
              <a:rPr lang="en-US" altLang="zh-CN" dirty="0"/>
              <a:t>1</a:t>
            </a:r>
            <a:r>
              <a:rPr lang="zh-CN" altLang="en-US" dirty="0"/>
              <a:t>姓名</a:t>
            </a:r>
            <a:r>
              <a:rPr lang="en-US" altLang="zh-CN" dirty="0"/>
              <a:t>_</a:t>
            </a:r>
            <a:r>
              <a:rPr lang="zh-CN" altLang="en-US" dirty="0"/>
              <a:t>组员</a:t>
            </a:r>
            <a:r>
              <a:rPr lang="en-US" altLang="zh-CN" dirty="0"/>
              <a:t>2</a:t>
            </a:r>
            <a:r>
              <a:rPr lang="zh-CN" altLang="en-US" dirty="0"/>
              <a:t>姓名  </a:t>
            </a:r>
            <a:r>
              <a:rPr lang="en-US" altLang="zh-CN" dirty="0"/>
              <a:t>(##</a:t>
            </a:r>
            <a:r>
              <a:rPr lang="zh-CN" altLang="en-US" dirty="0"/>
              <a:t>表示</a:t>
            </a:r>
            <a:r>
              <a:rPr lang="en-US" altLang="zh-CN" dirty="0"/>
              <a:t>2</a:t>
            </a:r>
            <a:r>
              <a:rPr lang="zh-CN" altLang="en-US" dirty="0"/>
              <a:t>位组号）</a:t>
            </a:r>
            <a:endParaRPr lang="en-US" altLang="zh-CN" dirty="0"/>
          </a:p>
          <a:p>
            <a:r>
              <a:rPr lang="zh-CN" altLang="en-US" dirty="0"/>
              <a:t>材料打包后发给老师，提交截止时间为 </a:t>
            </a:r>
            <a:r>
              <a:rPr lang="en-US" altLang="zh-CN" dirty="0" smtClean="0"/>
              <a:t>2026.6.20 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a1b214df-af91-4c4c-8ff0-552531cbe0a8"/>
  <p:tag name="COMMONDATA" val="eyJoZGlkIjoiNzZjZDc5MTA4OTk0MTJiMTY5M2MyNTMxOWE5YmEyYTQifQ=="/>
</p:tagLst>
</file>

<file path=ppt/theme/theme1.xml><?xml version="1.0" encoding="utf-8"?>
<a:theme xmlns:a="http://schemas.openxmlformats.org/drawingml/2006/main" name="剪切">
  <a:themeElements>
    <a:clrScheme name="剪切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剪切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剪切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裁剪</Template>
  <TotalTime>0</TotalTime>
  <Words>688</Words>
  <Application>WPS 演示</Application>
  <PresentationFormat>宽屏</PresentationFormat>
  <Paragraphs>66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Franklin Gothic Book</vt:lpstr>
      <vt:lpstr>华文楷体</vt:lpstr>
      <vt:lpstr>微软雅黑</vt:lpstr>
      <vt:lpstr>Arial Unicode MS</vt:lpstr>
      <vt:lpstr>Calibri</vt:lpstr>
      <vt:lpstr>剪切</vt:lpstr>
      <vt:lpstr>学科实践二 大作业</vt:lpstr>
      <vt:lpstr>大作业要点</vt:lpstr>
      <vt:lpstr>大作业时间安排</vt:lpstr>
      <vt:lpstr>大作业选题</vt:lpstr>
      <vt:lpstr>大作业成绩评定</vt:lpstr>
      <vt:lpstr>汇报与实验报告要求</vt:lpstr>
      <vt:lpstr>大作业提交材料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大作业</dc:title>
  <dc:creator>shuwen su</dc:creator>
  <cp:lastModifiedBy>高岩</cp:lastModifiedBy>
  <cp:revision>35</cp:revision>
  <dcterms:created xsi:type="dcterms:W3CDTF">2021-05-11T23:26:00Z</dcterms:created>
  <dcterms:modified xsi:type="dcterms:W3CDTF">2026-05-07T00:24:40Z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D0EFD3E99ECE42799A50A8A84418288E_13</vt:lpwstr>
  </property>
  <property fmtid="{D5CDD505-2E9C-101B-9397-08002B2CF9AE}" pid="3" name="KSOProductBuildVer">
    <vt:lpwstr>2052-12.1.0.25865</vt:lpwstr>
  </property>
</Properties>
</file>