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学科实践二大作业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基于 ResNet50 + CBAM 的叶片图像分类</a:t>
            </a:r>
          </a:p>
          <a:p>
            <a:r>
              <a:t>自动生成时间：2026-05-29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课题任务描述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完成一个不少于 5 类的图像分类任务</a:t>
            </a:r>
          </a:p>
          <a:p>
            <a:pPr>
              <a:defRPr sz="2000"/>
            </a:pPr>
            <a:r>
              <a:t>实现可复现训练流程（数据、训练、评估、可视化）</a:t>
            </a:r>
          </a:p>
          <a:p>
            <a:pPr>
              <a:defRPr sz="2000"/>
            </a:pPr>
            <a:r>
              <a:t>开展 4 组消融：baseline / +增强 / +CBAM / +CBAM+MixUp-CutMix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数据集说明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数据源：PlantVillage（公开叶片数据集）</a:t>
            </a:r>
          </a:p>
          <a:p>
            <a:pPr>
              <a:defRPr sz="2000"/>
            </a:pPr>
            <a:r>
              <a:t>类别数：5（Orange___Haunglongbing_(Citrus_greening), Tomato___Tomato_Yellow_Leaf_Curl_Virus, Soybean___healthy, Peach___Bacterial_spot, Tomato___Bacterial_spot）</a:t>
            </a:r>
          </a:p>
          <a:p>
            <a:pPr>
              <a:defRPr sz="2000"/>
            </a:pPr>
            <a:r>
              <a:t>训练集：600，验证集：150</a:t>
            </a:r>
          </a:p>
          <a:p>
            <a:pPr>
              <a:defRPr sz="2000"/>
            </a:pPr>
            <a:r>
              <a:t>图像特点：叶片病害特征明显、纹理与斑点细节重要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技术路线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预处理：统一尺寸、归一化、（可选）随机裁剪/翻转/颜色扰动</a:t>
            </a:r>
          </a:p>
          <a:p>
            <a:pPr>
              <a:defRPr sz="2000"/>
            </a:pPr>
            <a:r>
              <a:t>模型：ResNet50 backbone + Dropout + 分类头</a:t>
            </a:r>
          </a:p>
          <a:p>
            <a:pPr>
              <a:defRPr sz="2000"/>
            </a:pPr>
            <a:r>
              <a:t>注意力：在特征层引入 CBAM（通道+空间注意力）</a:t>
            </a:r>
          </a:p>
          <a:p>
            <a:pPr>
              <a:defRPr sz="2000"/>
            </a:pPr>
            <a:r>
              <a:t>训练：迁移学习 + AdamW + Cosine 学习率衰减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消融实验设计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Exp1: ResNet50 baseline</a:t>
            </a:r>
          </a:p>
          <a:p>
            <a:pPr>
              <a:defRPr sz="2000"/>
            </a:pPr>
            <a:r>
              <a:t>Exp2: ResNet50 + 数据增强</a:t>
            </a:r>
          </a:p>
          <a:p>
            <a:pPr>
              <a:defRPr sz="2000"/>
            </a:pPr>
            <a:r>
              <a:t>Exp3: ResNet50 + CBAM</a:t>
            </a:r>
          </a:p>
          <a:p>
            <a:pPr>
              <a:defRPr sz="2000"/>
            </a:pPr>
            <a:r>
              <a:t>Exp4: ResNet50 + CBAM + MixUp/CutMix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实验结果对比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640080">
                <a:tc>
                  <a:txBody>
                    <a:bodyPr/>
                    <a:lstStyle/>
                    <a:p>
                      <a:r>
                        <a:t>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验证准确率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验证损失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ResNet50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普通迁移学习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ResNet50 + 数据增强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提升泛化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ResNet50 + CBAM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64.00%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1.5305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引入注意力机制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ResNet50 + CBAM + MixUp/CutMix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76.00%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1.5348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最终模型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阶段性结果截图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结果分析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当前快速设置下最好模型：ResNet50 baseline（84.00%）</a:t>
            </a:r>
          </a:p>
          <a:p>
            <a:pPr>
              <a:defRPr sz="2000"/>
            </a:pPr>
            <a:r>
              <a:t>CBAM 与 MixUp/CutMix 对训练轮次和学习率较敏感</a:t>
            </a:r>
          </a:p>
          <a:p>
            <a:pPr>
              <a:defRPr sz="2000"/>
            </a:pPr>
            <a:r>
              <a:t>在 CPU + 1 epoch 条件下，复杂策略优势未完全体现</a:t>
            </a:r>
          </a:p>
          <a:p>
            <a:pPr>
              <a:defRPr sz="2000"/>
            </a:pPr>
            <a:r>
              <a:t>后续建议在 GPU 上增加 epoch 做正式版对比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课题总结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已完成完整工程流程：数据 -&gt; 训练 -&gt; 评估 -&gt; 可视化 -&gt; 消融</a:t>
            </a:r>
          </a:p>
          <a:p>
            <a:pPr>
              <a:defRPr sz="2000"/>
            </a:pPr>
            <a:r>
              <a:t>代码支持自动下载数据和一键切换实验配置</a:t>
            </a:r>
          </a:p>
          <a:p>
            <a:pPr>
              <a:defRPr sz="2000"/>
            </a:pPr>
            <a:r>
              <a:t>提交材料已自动生成，可直接按课程要求打包提交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小组分工（按实际替换）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组长：方案设计、进度管理、答辩统筹</a:t>
            </a:r>
          </a:p>
          <a:p>
            <a:pPr>
              <a:defRPr sz="2000"/>
            </a:pPr>
            <a:r>
              <a:t>组员1：数据准备、训练调参、实验复现</a:t>
            </a:r>
          </a:p>
          <a:p>
            <a:pPr>
              <a:defRPr sz="2000"/>
            </a:pPr>
            <a:r>
              <a:t>组员2：报告撰写、PPT制作、路演讲解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